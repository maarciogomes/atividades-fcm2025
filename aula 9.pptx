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CCFBC-636E-44C0-0F7D-A9390146E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6B5032-65CC-458B-A494-9E0D00DBA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B2A15D-DF70-6AFF-6523-71B1D0BA4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9E862A-E8A3-55A2-DD1C-77085862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F7225-8252-4AED-CCA5-00AFF0B8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361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DA368-1FB0-EB83-CD2F-93846C72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EAA3BC-058D-E194-12D0-73108F650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598A66-3B88-6533-84FB-F574E3D2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54F210-14BE-244E-FD98-66C35CC2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BC9CA3-99BA-FEF3-F9DC-0A9F6F56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53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1373C-6B36-8BB7-D16F-F611F69B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7DD36D-8721-A8E2-06C4-74A40B69E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3B1170-4DA5-F29A-1F73-967E3C66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5AFDA8-2C3A-2116-085D-69C93AA6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4AB1B6-74A1-EC73-6B23-64527D64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63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2C199-109C-5B0D-D07F-32CC0401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9784AF-1C50-6C1B-611A-E0D66271A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C08BF9-9766-3989-7E30-DF1B156E2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70CAEB-DC8A-B3C1-F79C-8F804A01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51CF3-40D5-734C-5533-7C0CDEF4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C74A08-2A78-32AA-7CC6-A58BF7F21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61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BD5D8-CCD3-694C-AB94-51DF6553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2A70F6-0FB1-55EB-D7DC-3B1491464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101A8C-C1CC-5217-AA1F-4F7C51EB8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EEA0E7-4173-D9CC-6C92-9A9810A71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FEF4B8-0216-50A9-AA96-F79602E9A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A553AE-629F-8370-793B-8353CC25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8A5DC4-6CCE-7BE9-BBC9-53226444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E1B1F1A-296F-C94D-D3E3-EBDB4938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386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CDA21-BF77-689C-B9C6-8F2D5B1C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107797-B660-0BE9-9D2C-3BFD662F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3DCC76-D660-CDC8-6901-8831B50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E1D920-2777-C80B-32EF-6A6C0267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42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777E0A-86F3-C754-2467-2D4AF2B0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E34576-A616-F3C5-CF07-23D4DD02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A03A36-FB2B-7E5B-2B58-8CD9C27D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5367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D55EE-DA3F-FE63-6B18-68B6198F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DC27B3-927F-0450-1CAF-E4D67417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51EB46-F354-6198-A4CA-D29EF960A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116F5D-49C0-B6FC-C23C-E0F0A652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8D7483-DC3F-5A1C-774E-F62421DF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CA86E4-91A9-FF07-4EEF-5DFA7DEC4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77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09D70-6DB5-7D9C-8009-A492972B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58A822-810B-CC90-2780-CD5CF15E9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F06783-C942-8CCD-E883-1C3B9033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E6D7B4-0509-0E5A-49E0-34045035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F981ED-0B21-DBEB-7431-6C0F79ED1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0C388D-B3A5-9C7F-F492-997CCBC0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4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8D61B-E79B-C8B4-AA96-CE7A934EF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277D4D-6108-D554-0B65-66F04A009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70D66-AC46-ED6D-886F-C6A39F1D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095334-DF36-0FDB-F24B-62DF6E61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1BCE9-327C-6589-24D4-24E1518A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87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5EEC10-8FD8-8E36-F19C-F166B0897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9BCD6A-711A-9A5C-FD1E-1F6B286F6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8B976-052F-B3F7-8226-9BE75EF2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55625E-99FE-23F9-8AD4-989CB527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BBEE70-3299-499B-EC45-8B2D8B88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4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3C7C0B5-7C50-859D-7EC2-7BC220D5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F123DA-B63F-7146-F41D-A664FB3C8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0BE191-280F-CA1E-FC3C-B65B709BC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5A93A-F501-48F8-88A4-64775AE500F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005F68-581F-8D4F-F516-00C1C93E2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22AE61-B901-B1ED-7F3F-75337CF42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6F3BF-2A9A-42FE-843E-FC3DA9E76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35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818555A-888F-87DB-BEB9-DED4FBD51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786" y="1085850"/>
            <a:ext cx="4379152" cy="301806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1F00F7E-5A23-367B-224A-D6FBC999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663" y="4197804"/>
            <a:ext cx="13525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79211-5096-C41A-B8A8-2A8F2F10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Transformação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E18AD8-02D5-BA85-48BF-387CB50A7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análise estatística, </a:t>
            </a:r>
            <a:r>
              <a:rPr lang="pt-BR" b="1" dirty="0"/>
              <a:t>transformações de dados</a:t>
            </a:r>
            <a:r>
              <a:rPr lang="pt-BR" dirty="0"/>
              <a:t> são usadas quando os </a:t>
            </a:r>
            <a:r>
              <a:rPr lang="pt-BR" b="1" dirty="0"/>
              <a:t>pressupostos dos testes paramétricos</a:t>
            </a:r>
            <a:r>
              <a:rPr lang="pt-BR" dirty="0"/>
              <a:t> não são atendidos, especialmente:</a:t>
            </a:r>
          </a:p>
          <a:p>
            <a:endParaRPr lang="pt-BR" dirty="0"/>
          </a:p>
          <a:p>
            <a:r>
              <a:rPr lang="pt-BR" b="1" dirty="0"/>
              <a:t>Normalidade dos resíduos;</a:t>
            </a:r>
          </a:p>
          <a:p>
            <a:endParaRPr lang="pt-BR" dirty="0"/>
          </a:p>
          <a:p>
            <a:r>
              <a:rPr lang="pt-BR" b="1" dirty="0"/>
              <a:t>Homogeneidade de variâncias;</a:t>
            </a:r>
          </a:p>
          <a:p>
            <a:endParaRPr lang="pt-BR" dirty="0"/>
          </a:p>
          <a:p>
            <a:r>
              <a:rPr lang="pt-BR" b="1" dirty="0"/>
              <a:t>Outliers extremos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186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47CE5-2366-6D82-5320-AFE34DED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5942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Transformação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4EC2AEA-6AD6-85DD-48F8-470EDA09D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27350"/>
              </p:ext>
            </p:extLst>
          </p:nvPr>
        </p:nvGraphicFramePr>
        <p:xfrm>
          <a:off x="310243" y="1436915"/>
          <a:ext cx="11571513" cy="5225143"/>
        </p:xfrm>
        <a:graphic>
          <a:graphicData uri="http://schemas.openxmlformats.org/drawingml/2006/table">
            <a:tbl>
              <a:tblPr/>
              <a:tblGrid>
                <a:gridCol w="2290935">
                  <a:extLst>
                    <a:ext uri="{9D8B030D-6E8A-4147-A177-3AD203B41FA5}">
                      <a16:colId xmlns:a16="http://schemas.microsoft.com/office/drawing/2014/main" val="2967368126"/>
                    </a:ext>
                  </a:extLst>
                </a:gridCol>
                <a:gridCol w="3093526">
                  <a:extLst>
                    <a:ext uri="{9D8B030D-6E8A-4147-A177-3AD203B41FA5}">
                      <a16:colId xmlns:a16="http://schemas.microsoft.com/office/drawing/2014/main" val="162244571"/>
                    </a:ext>
                  </a:extLst>
                </a:gridCol>
                <a:gridCol w="3093526">
                  <a:extLst>
                    <a:ext uri="{9D8B030D-6E8A-4147-A177-3AD203B41FA5}">
                      <a16:colId xmlns:a16="http://schemas.microsoft.com/office/drawing/2014/main" val="2076114240"/>
                    </a:ext>
                  </a:extLst>
                </a:gridCol>
                <a:gridCol w="3093526">
                  <a:extLst>
                    <a:ext uri="{9D8B030D-6E8A-4147-A177-3AD203B41FA5}">
                      <a16:colId xmlns:a16="http://schemas.microsoft.com/office/drawing/2014/main" val="1743864895"/>
                    </a:ext>
                  </a:extLst>
                </a:gridCol>
              </a:tblGrid>
              <a:tr h="474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Nome da variável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Transformação aplicada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Fórmula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Quando usar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63747"/>
                  </a:ext>
                </a:extLst>
              </a:tr>
              <a:tr h="1187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 err="1">
                          <a:latin typeface="Courier New" panose="02070309020205020404" pitchFamily="49" charset="0"/>
                        </a:rPr>
                        <a:t>log_Valor</a:t>
                      </a:r>
                      <a:endParaRPr lang="pt-BR" sz="2000" dirty="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Logarítmica natural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( \log(x) 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Quando há assimetria à direita (valores altos puxando a média)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404378"/>
                  </a:ext>
                </a:extLst>
              </a:tr>
              <a:tr h="831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latin typeface="Courier New" panose="02070309020205020404" pitchFamily="49" charset="0"/>
                        </a:rPr>
                        <a:t>sqrt_Valor</a:t>
                      </a:r>
                      <a:endParaRPr lang="pt-BR" sz="20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Raiz quadrada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( \</a:t>
                      </a:r>
                      <a:r>
                        <a:rPr lang="pt-BR" sz="2000" dirty="0" err="1"/>
                        <a:t>sqrt</a:t>
                      </a:r>
                      <a:r>
                        <a:rPr lang="pt-BR" sz="2000" dirty="0"/>
                        <a:t>{x} 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Quando há assimetria moderada à direita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192288"/>
                  </a:ext>
                </a:extLst>
              </a:tr>
              <a:tr h="1187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latin typeface="Courier New" panose="02070309020205020404" pitchFamily="49" charset="0"/>
                        </a:rPr>
                        <a:t>inv_Valor</a:t>
                      </a:r>
                      <a:endParaRPr lang="pt-BR" sz="20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Inversa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( 1/x 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Quando há grande assimetria e valores muito altos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42685"/>
                  </a:ext>
                </a:extLst>
              </a:tr>
              <a:tr h="1544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latin typeface="Courier New" panose="02070309020205020404" pitchFamily="49" charset="0"/>
                        </a:rPr>
                        <a:t>arcsin_Valor</a:t>
                      </a:r>
                      <a:endParaRPr lang="pt-BR" sz="20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Arco seno da raiz quadrada (proporções)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( \</a:t>
                      </a:r>
                      <a:r>
                        <a:rPr lang="pt-BR" sz="2000" dirty="0" err="1"/>
                        <a:t>arcsin</a:t>
                      </a:r>
                      <a:r>
                        <a:rPr lang="pt-BR" sz="2000" dirty="0"/>
                        <a:t>(\</a:t>
                      </a:r>
                      <a:r>
                        <a:rPr lang="pt-BR" sz="2000" dirty="0" err="1"/>
                        <a:t>sqrt</a:t>
                      </a:r>
                      <a:r>
                        <a:rPr lang="pt-BR" sz="2000" dirty="0"/>
                        <a:t>{x}) 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Quando os dados estão em proporção (0 a 1), como porcentagens ou taxas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44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74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DFF82-9A48-C043-7766-8C6974DBA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Transformação VS Teste não paramétrico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D5BEFD7-90D2-2CA0-3D56-4EDFC40DB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324306"/>
              </p:ext>
            </p:extLst>
          </p:nvPr>
        </p:nvGraphicFramePr>
        <p:xfrm>
          <a:off x="729343" y="1415143"/>
          <a:ext cx="9995853" cy="5290456"/>
        </p:xfrm>
        <a:graphic>
          <a:graphicData uri="http://schemas.openxmlformats.org/drawingml/2006/table">
            <a:tbl>
              <a:tblPr/>
              <a:tblGrid>
                <a:gridCol w="4738053">
                  <a:extLst>
                    <a:ext uri="{9D8B030D-6E8A-4147-A177-3AD203B41FA5}">
                      <a16:colId xmlns:a16="http://schemas.microsoft.com/office/drawing/2014/main" val="34741621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77489890"/>
                    </a:ext>
                  </a:extLst>
                </a:gridCol>
              </a:tblGrid>
              <a:tr h="813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Situação dos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Ação recomendada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4570"/>
                  </a:ext>
                </a:extLst>
              </a:tr>
              <a:tr h="813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Normalidade e homogeneidade 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✅ Usar teste paramétrico direto (ex: ANOVA).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280639"/>
                  </a:ext>
                </a:extLst>
              </a:tr>
              <a:tr h="142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Violação leve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📐 Aplicar transformação → refazer testes → se OK, usar ANOVA.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576044"/>
                  </a:ext>
                </a:extLst>
              </a:tr>
              <a:tr h="142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Violação persistente após transformação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🚫 Usar teste não paramétrico (</a:t>
                      </a:r>
                      <a:r>
                        <a:rPr lang="pt-BR" sz="2000" dirty="0" err="1"/>
                        <a:t>ex</a:t>
                      </a:r>
                      <a:r>
                        <a:rPr lang="pt-BR" sz="2000" dirty="0"/>
                        <a:t>: </a:t>
                      </a:r>
                      <a:r>
                        <a:rPr lang="pt-BR" sz="2000" dirty="0" err="1"/>
                        <a:t>Kruskal</a:t>
                      </a:r>
                      <a:r>
                        <a:rPr lang="pt-BR" sz="2000" dirty="0"/>
                        <a:t>-Wallis ou Friedman).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017167"/>
                  </a:ext>
                </a:extLst>
              </a:tr>
              <a:tr h="813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Dados ordinais ou com muitos zeros/empates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🧾 Ir direto para teste não paramétrico.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721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29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1B3B4A-41F0-6735-0726-55FEF1CF9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Zar, JH. (2010). </a:t>
            </a:r>
            <a:r>
              <a:rPr lang="pt-PT" b="1" dirty="0"/>
              <a:t>Biostatical analysis. </a:t>
            </a:r>
            <a:r>
              <a:rPr lang="pt-PT" dirty="0"/>
              <a:t>(5</a:t>
            </a:r>
            <a:r>
              <a:rPr lang="pt-PT" baseline="30000" dirty="0"/>
              <a:t>th</a:t>
            </a:r>
            <a:r>
              <a:rPr lang="pt-PT" dirty="0"/>
              <a:t> ed.). New Jersey: Pearson Pr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https://lib.zu.edu.pk/ebookdata/Biostatistics/Biostatistical%20Analysis-by%20Jerrold%20H%20Zar.pdf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24B4878-E673-7D83-A5E7-6629AFB8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594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pt-PT" b="1" dirty="0"/>
            </a:br>
            <a:r>
              <a:rPr lang="pt-PT" b="1" dirty="0"/>
              <a:t>REFERÊNCIAS</a:t>
            </a:r>
            <a:br>
              <a:rPr lang="pt-BR" dirty="0"/>
            </a:br>
            <a:r>
              <a:rPr lang="pt-B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6345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255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Tema do Office</vt:lpstr>
      <vt:lpstr>Apresentação do PowerPoint</vt:lpstr>
      <vt:lpstr>Transformação</vt:lpstr>
      <vt:lpstr>Transformação</vt:lpstr>
      <vt:lpstr>Transformação VS Teste não paramétrico</vt:lpstr>
      <vt:lpstr> REFERÊNCIAS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Marinete Nascimento</dc:creator>
  <cp:lastModifiedBy>Marinete Nascimento</cp:lastModifiedBy>
  <cp:revision>1</cp:revision>
  <dcterms:created xsi:type="dcterms:W3CDTF">2025-10-10T01:44:45Z</dcterms:created>
  <dcterms:modified xsi:type="dcterms:W3CDTF">2025-10-10T02:00:32Z</dcterms:modified>
</cp:coreProperties>
</file>